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Recompensa acumulada por episódio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acumulado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C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8C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A4C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A4C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A4C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A4C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REINFORCE</c:v>
                  </c:pt>
                  <c:pt idx="1">
                    <c:v>ThompsonS.</c:v>
                  </c:pt>
                  <c:pt idx="2">
                    <c:v>PersonalPop</c:v>
                  </c:pt>
                  <c:pt idx="3">
                    <c:v>CollabFilter</c:v>
                  </c:pt>
                  <c:pt idx="4">
                    <c:v>ε-greedy</c:v>
                  </c:pt>
                  <c:pt idx="5">
                    <c:v>UCB</c:v>
                  </c:pt>
                  <c:pt idx="6">
                    <c:v>Q-Learning</c:v>
                  </c:pt>
                  <c:pt idx="7">
                    <c:v>DQN</c:v>
                  </c:pt>
                  <c:pt idx="8">
                    <c:v>GlobalPop</c:v>
                  </c:pt>
                  <c:pt idx="9">
                    <c:v>Random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22.71</c:v>
                </c:pt>
                <c:pt idx="1">
                  <c:v>20.09</c:v>
                </c:pt>
                <c:pt idx="2">
                  <c:v>9.55</c:v>
                </c:pt>
                <c:pt idx="3">
                  <c:v>8.79</c:v>
                </c:pt>
                <c:pt idx="4">
                  <c:v>3.73</c:v>
                </c:pt>
                <c:pt idx="5">
                  <c:v>-4.44</c:v>
                </c:pt>
                <c:pt idx="6">
                  <c:v>2.63</c:v>
                </c:pt>
                <c:pt idx="7">
                  <c:v>2.78</c:v>
                </c:pt>
                <c:pt idx="8">
                  <c:v>2.68</c:v>
                </c:pt>
                <c:pt idx="9">
                  <c:v>2.73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Hit Rate@10  vs  NDCG@10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HR@10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CollabFilter</c:v>
                  </c:pt>
                  <c:pt idx="1">
                    <c:v>PersonalPop</c:v>
                  </c:pt>
                  <c:pt idx="2">
                    <c:v>REINFORCE</c:v>
                  </c:pt>
                  <c:pt idx="3">
                    <c:v>ε-greedy</c:v>
                  </c:pt>
                  <c:pt idx="4">
                    <c:v>ThompsonS.</c:v>
                  </c:pt>
                  <c:pt idx="5">
                    <c:v>Q-Learning</c:v>
                  </c:pt>
                  <c:pt idx="6">
                    <c:v>Random</c:v>
                  </c:pt>
                  <c:pt idx="7">
                    <c:v>UCB</c:v>
                  </c:pt>
                  <c:pt idx="8">
                    <c:v>GlobalPop</c:v>
                  </c:pt>
                  <c:pt idx="9">
                    <c:v>DQN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0.68</c:v>
                </c:pt>
                <c:pt idx="1">
                  <c:v>0.645</c:v>
                </c:pt>
                <c:pt idx="2">
                  <c:v>0.485</c:v>
                </c:pt>
                <c:pt idx="3">
                  <c:v>0.2</c:v>
                </c:pt>
                <c:pt idx="4">
                  <c:v>0.465</c:v>
                </c:pt>
                <c:pt idx="5">
                  <c:v>0.115</c:v>
                </c:pt>
                <c:pt idx="6">
                  <c:v>0.11</c:v>
                </c:pt>
                <c:pt idx="7">
                  <c:v>0.085</c:v>
                </c:pt>
                <c:pt idx="8">
                  <c:v>0.075</c:v>
                </c:pt>
                <c:pt idx="9">
                  <c:v>0.07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00AC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CollabFilter</c:v>
                  </c:pt>
                  <c:pt idx="1">
                    <c:v>PersonalPop</c:v>
                  </c:pt>
                  <c:pt idx="2">
                    <c:v>REINFORCE</c:v>
                  </c:pt>
                  <c:pt idx="3">
                    <c:v>ε-greedy</c:v>
                  </c:pt>
                  <c:pt idx="4">
                    <c:v>ThompsonS.</c:v>
                  </c:pt>
                  <c:pt idx="5">
                    <c:v>Q-Learning</c:v>
                  </c:pt>
                  <c:pt idx="6">
                    <c:v>Random</c:v>
                  </c:pt>
                  <c:pt idx="7">
                    <c:v>UCB</c:v>
                  </c:pt>
                  <c:pt idx="8">
                    <c:v>GlobalPop</c:v>
                  </c:pt>
                  <c:pt idx="9">
                    <c:v>DQN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0.186</c:v>
                </c:pt>
                <c:pt idx="1">
                  <c:v>0.183</c:v>
                </c:pt>
                <c:pt idx="2">
                  <c:v>0.285</c:v>
                </c:pt>
                <c:pt idx="3">
                  <c:v>0.178</c:v>
                </c:pt>
                <c:pt idx="4">
                  <c:v>0.475</c:v>
                </c:pt>
                <c:pt idx="5">
                  <c:v>0.015</c:v>
                </c:pt>
                <c:pt idx="6">
                  <c:v>0.011</c:v>
                </c:pt>
                <c:pt idx="7">
                  <c:v>0.087</c:v>
                </c:pt>
                <c:pt idx="8">
                  <c:v>0.008</c:v>
                </c:pt>
                <c:pt idx="9">
                  <c:v>0.007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Diversidade intra-lista  vs  Cobertura do catálogo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PersonalPop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CollabFilter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ThompsonS.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0.095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ε-greedy</c:v>
                </c:pt>
              </c:strCache>
            </c:strRef>
          </c:tx>
          <c:spPr>
            <a:solidFill>
              <a:srgbClr val="00ACC1"/>
            </a:solidFill>
            <a:ln w="25400" cap="flat">
              <a:solidFill>
                <a:srgbClr val="00AC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CC1"/>
              </a:solidFill>
              <a:ln w="9525" cap="flat">
                <a:solidFill>
                  <a:srgbClr val="00ACC1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0.15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Q-Learning</c:v>
                </c:pt>
              </c:strCache>
            </c:strRef>
          </c:tx>
          <c:spPr>
            <a:solidFill>
              <a:srgbClr val="EF8C1A"/>
            </a:solidFill>
            <a:ln w="25400" cap="flat">
              <a:solidFill>
                <a:srgbClr val="EF8C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8C1A"/>
              </a:solidFill>
              <a:ln w="9525" cap="flat">
                <a:solidFill>
                  <a:srgbClr val="EF8C1A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0.992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DQN</c:v>
                </c:pt>
              </c:strCache>
            </c:strRef>
          </c:tx>
          <c:spPr>
            <a:solidFill>
              <a:srgbClr val="8BA4C0"/>
            </a:solidFill>
            <a:ln w="25400" cap="flat">
              <a:solidFill>
                <a:srgbClr val="8BA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A4C0"/>
              </a:solidFill>
              <a:ln w="9525" cap="flat">
                <a:solidFill>
                  <a:srgbClr val="8BA4C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Sheet1!$G$2:$G$2</c:f>
              <c:numCache>
                <c:formatCode>General</c:formatCode>
                <c:ptCount val="1"/>
                <c:pt idx="0">
                  <c:v>0.992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GlobalPop</c:v>
                </c:pt>
              </c:strCache>
            </c:strRef>
          </c:tx>
          <c:spPr>
            <a:solidFill>
              <a:srgbClr val="8BA4C0"/>
            </a:solidFill>
            <a:ln w="25400" cap="flat">
              <a:solidFill>
                <a:srgbClr val="8BA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A4C0"/>
              </a:solidFill>
              <a:ln w="9525" cap="flat">
                <a:solidFill>
                  <a:srgbClr val="8BA4C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UCB</c:v>
                </c:pt>
              </c:strCache>
            </c:strRef>
          </c:tx>
          <c:spPr>
            <a:solidFill>
              <a:srgbClr val="8BA4C0"/>
            </a:solidFill>
            <a:ln w="25400" cap="flat">
              <a:solidFill>
                <a:srgbClr val="8BA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A4C0"/>
              </a:solidFill>
              <a:ln w="9525" cap="flat">
                <a:solidFill>
                  <a:srgbClr val="8BA4C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0.481</c:v>
                </c:pt>
              </c:numCache>
            </c:numRef>
          </c:xVal>
          <c:yVal>
            <c:numRef>
              <c:f>Sheet1!$I$2:$I$2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0D2645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Recomendação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Vídeo via Aprendizagem por Reforço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3716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·  UC Aprendizagem por Reforço  ·  2025/26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github.com/Ol3ksii/AR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junho de 2026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Feed de Scroll Infinito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recomendar conteúdo que maximiza o engajamento ao longo de uma sessão?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7315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27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23317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288036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recomendação afecta as seguintes. O utilizador não vê itens isolados — vê uma sessão.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554480"/>
            <a:ext cx="2743200" cy="7315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276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23317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288036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ratings explícitos. O sinal é o count de interacções — uma aproximação ao interesse real.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554480"/>
            <a:ext cx="2743200" cy="7315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2763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23317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Exploit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36208" y="288036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o conhecido garante engajamento imediato, mas limita a descoberta de novo conteúdo.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E3EB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MDP:  Estado (perfil + histórico)  →  Acção (subreddit)  →  Recompensa  r(u,s) = log(1 + count(u,s))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Reddit + Ambiente Gymnasium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ficheiros de dados → ambiente simulado de recomendação sequencial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" cy="1325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interacções brutas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98648" y="141732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8648" y="1417320"/>
            <a:ext cx="64008" cy="13258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35808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7256" y="141732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77256" y="1417320"/>
            <a:ext cx="64008" cy="1325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14416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subreddits (top-K)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5864" y="141732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55864" y="1417320"/>
            <a:ext cx="64008" cy="13258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93024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em reddit_data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8503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0360"/>
            <a:ext cx="8503920" cy="347472"/>
          </a:xfrm>
          <a:prstGeom prst="rect">
            <a:avLst/>
          </a:prstGeom>
          <a:solidFill>
            <a:srgbClr val="0D264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80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Simulado — compatível com Gymnasium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 </a:t>
            </a:r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+ histórico de 5 subreddits + recompensas recentes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Acção:  </a:t>
            </a:r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do subreddit a recomendar (espaço de 1 000)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Recompensa:  </a:t>
            </a:r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log(1+count)  −  0.5×repetição  +  0.1×novidade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Episódio:  </a:t>
            </a:r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recomendações · treino 80% · teste 20% utilizadores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Algoritmos Implementados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famílias: Baselines · Bandits · Aprendizagem por Reforço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411480"/>
          </a:xfrm>
          <a:prstGeom prst="rect">
            <a:avLst/>
          </a:prstGeom>
          <a:solidFill>
            <a:srgbClr val="8BA4C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não-RL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GlobalPop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PersonalPop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CollabFilter (user-based)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743200" cy="411480"/>
          </a:xfrm>
          <a:prstGeom prst="rect">
            <a:avLst/>
          </a:prstGeom>
          <a:solidFill>
            <a:srgbClr val="EF8C1A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01168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(per-user)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UCB1 (per-user, c=0.1)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 (Beta adaptativo)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5087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por Reforço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201168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tabular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+ replay buffer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(policy gradient)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episódios de treino  ·  200 episódios de avaliação  ·  utilizadores de teste nunca vistos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Avaliação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episódios de teste · utilizadores não vistos no treino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371600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371600"/>
            <a:ext cx="64008" cy="10789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06440" y="2578608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578608"/>
            <a:ext cx="64008" cy="107899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624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26243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20.09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806440" y="3785616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3785616"/>
            <a:ext cx="64008" cy="10789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313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PersonalPop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0" y="383133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das Recomendações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HR@10 e NDCG@10 — acertos e ordenação correcta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8503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ThompsonSampling tem o maior NDCG@10 (0.475) — os acertos aparecem nas primeiras posições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Diversidade vs Cobertura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muito → alta diversidade, baixa cobertura do catálogo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37160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813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1968" y="1389888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REINFORCE: equilíbrio entre diversidade (0.48) e cobertura (0.45)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2578608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688336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01968" y="2596896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PersonalPop/CollabFilter: div. máxima mas cobertura mínima (0.04)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26480" y="3785616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895344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01968" y="380390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UCB: cobertura quase nula (0.001) — exploração não converge em 20 passos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SITUAÇÃO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feito — e o que está em melhoria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do projecto a 2 de junho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6908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FEITO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pré-processamento → treino → avaliação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agentes implementados e avaliados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completas: reward, HR@10, NDCG@10, diversidade, cobertura, novidade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corrigidos com estimativas por utilizador + prior global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REINFORCE: melhor reward acumulado (22.71)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Sampling: melhor NDCG@10 (0.475)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69080" cy="347472"/>
          </a:xfrm>
          <a:prstGeom prst="rect">
            <a:avLst/>
          </a:prstGeom>
          <a:solidFill>
            <a:srgbClr val="EF8C1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17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EM MELHORIA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UCB: reward ainda negativo (−4.44) — exploração colide com penalização de repetição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 Q-Learning: ao nível do Random — precisam de mais episódios ou embeddings pré-treinados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 (16 junho): adicionar gráficos e análise mais profunda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documentação e organização final do repositório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até 16 de Junho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frentes de trabalho em paralelo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5029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727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DQN / UCB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2487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Pré-treinar embeddings com matrix factorisation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episódios para 10 000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init_k do UCB (testar 20 e 100)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early stopping por reward estabilizado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18688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1508760"/>
            <a:ext cx="2743200" cy="502920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5727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&amp; Repositório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2084832"/>
            <a:ext cx="2487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todos os módulos com docstrings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detalhado com instruções de reprodução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de análise de resultados completo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final de pastas e ficheiros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508760"/>
            <a:ext cx="2743200" cy="50292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727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2084832"/>
            <a:ext cx="2487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gráficos de curvas de aprendizagem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tabela de comparação final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secção de discussão e limitações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língua e formatação LNCS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final: 16 de junho de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0D2645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120700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reward acumulado (22.71) — política estocástica aprende a equilibrar engajamento e exploração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804672"/>
          </a:xfrm>
          <a:prstGeom prst="rect">
            <a:avLst/>
          </a:prstGeom>
          <a:solidFill>
            <a:srgbClr val="0D2645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64008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214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0.475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12140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 destaca-se na ordenação — prior Bayesiano adaptativo funciona muito bem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804672"/>
          </a:xfrm>
          <a:prstGeom prst="rect">
            <a:avLst/>
          </a:prstGeom>
          <a:solidFill>
            <a:srgbClr val="0D2645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64008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358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03580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forte → alta diversidade, baixa cobertura. REINFORCE equilibra os dois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04672"/>
          </a:xfrm>
          <a:prstGeom prst="rect">
            <a:avLst/>
          </a:prstGeom>
          <a:solidFill>
            <a:srgbClr val="0D2645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64008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0208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/ UCB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395020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melhoria — precisam de mais iterações ou ajuste de hiperparâmetros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github.com/Ol3ksii/AR  ·  Relatório final: 16 de junho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Recomendacao por RL — Grupo 4</dc:title>
  <dc:subject>PptxGenJS Presentation</dc:subject>
  <dc:creator>PptxGenJS</dc:creator>
  <cp:lastModifiedBy>PptxGenJS</cp:lastModifiedBy>
  <cp:revision>1</cp:revision>
  <dcterms:created xsi:type="dcterms:W3CDTF">2026-05-30T09:12:18Z</dcterms:created>
  <dcterms:modified xsi:type="dcterms:W3CDTF">2026-05-30T09:12:18Z</dcterms:modified>
</cp:coreProperties>
</file>